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66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1520" y="109728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79A4A7-40C8-EBAC-C05A-6B3F999E48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0AB3B62-22DD-872F-809A-8774FF0F1CFE}"/>
              </a:ext>
            </a:extLst>
          </p:cNvPr>
          <p:cNvSpPr txBox="1"/>
          <p:nvPr/>
        </p:nvSpPr>
        <p:spPr>
          <a:xfrm>
            <a:off x="5071532" y="1767025"/>
            <a:ext cx="238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Taller ABP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469BD8C-56EE-D457-005D-041F61E4D09F}"/>
              </a:ext>
            </a:extLst>
          </p:cNvPr>
          <p:cNvSpPr txBox="1"/>
          <p:nvPr/>
        </p:nvSpPr>
        <p:spPr>
          <a:xfrm>
            <a:off x="4393353" y="2684996"/>
            <a:ext cx="2734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/>
              <a:t>Por:</a:t>
            </a:r>
          </a:p>
          <a:p>
            <a:r>
              <a:rPr lang="es-CO" dirty="0"/>
              <a:t>Santiago Pérez Benavidez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73F7EA1-E4C5-2408-4101-43B362E671A8}"/>
              </a:ext>
            </a:extLst>
          </p:cNvPr>
          <p:cNvSpPr txBox="1"/>
          <p:nvPr/>
        </p:nvSpPr>
        <p:spPr>
          <a:xfrm>
            <a:off x="4393353" y="3930133"/>
            <a:ext cx="3539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Computación en la nube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" y="658368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40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Problemática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9334" y="1816946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s-419" sz="2000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s-419" sz="20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s-419" sz="2000" dirty="0">
                <a:solidFill>
                  <a:srgbClr val="000000"/>
                </a:solidFill>
              </a:rPr>
              <a:t>Muchas pequeñas empresas almacenan información crítica en equipos locales o dispositivos externos, generando riesgos importantes.</a:t>
            </a:r>
            <a:endParaRPr lang="en-US" sz="2000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000000"/>
                </a:solidFill>
              </a:rPr>
              <a:t>Pérdida</a:t>
            </a:r>
            <a:r>
              <a:rPr lang="en-US" sz="2000" dirty="0">
                <a:solidFill>
                  <a:srgbClr val="000000"/>
                </a:solidFill>
              </a:rPr>
              <a:t> de información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Accesos no autorizados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Falta de respaldos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Baja disponibilidad</a:t>
            </a:r>
            <a:endParaRPr lang="en-US" sz="20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AB27240-5281-9B9E-13F5-EB8F210C4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5EDB98B-B271-4580-4C41-7F54A456B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8841">
            <a:off x="5836467" y="3188546"/>
            <a:ext cx="3255276" cy="2346798"/>
          </a:xfrm>
          <a:prstGeom prst="rect">
            <a:avLst/>
          </a:prstGeom>
          <a:solidFill>
            <a:srgbClr val="FFFFFF">
              <a:shade val="85000"/>
            </a:srgbClr>
          </a:solidFill>
          <a:ln w="101600" cap="sq">
            <a:solidFill>
              <a:srgbClr val="FDFDFD"/>
            </a:solidFill>
            <a:miter lim="800000"/>
          </a:ln>
          <a:effectLst>
            <a:outerShdw blurRad="57150" dist="37500" dir="7560000" sy="98000" kx="110000" ky="200000" algn="tl" rotWithShape="0">
              <a:srgbClr val="000000">
                <a:alpha val="20000"/>
              </a:srgbClr>
            </a:outerShdw>
          </a:effectLst>
          <a:scene3d>
            <a:camera prst="perspectiveRelaxed">
              <a:rot lat="18960000" lon="0" rev="0"/>
            </a:camera>
            <a:lightRig rig="twoPt" dir="t">
              <a:rot lat="0" lon="0" rev="7200000"/>
            </a:lightRig>
          </a:scene3d>
          <a:sp3d prstMaterial="matte">
            <a:bevelT w="22860" h="1270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" y="585555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98120" y="70425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Objetivos del Proyecto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419" sz="2000" dirty="0">
                <a:solidFill>
                  <a:srgbClr val="000000"/>
                </a:solidFill>
              </a:rPr>
              <a:t>Diseñar e implementar una arquitectura en la nube para almacenar y proteger información empresarial utilizando servicios de AWS.</a:t>
            </a:r>
            <a:endParaRPr lang="en-US" sz="20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4529A85-24F6-1042-A52F-57C1DFE2A9BC}"/>
              </a:ext>
            </a:extLst>
          </p:cNvPr>
          <p:cNvSpPr txBox="1"/>
          <p:nvPr/>
        </p:nvSpPr>
        <p:spPr>
          <a:xfrm>
            <a:off x="804333" y="3081867"/>
            <a:ext cx="106561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b="1" dirty="0"/>
              <a:t>Objetivos Específicos:</a:t>
            </a:r>
          </a:p>
          <a:p>
            <a:endParaRPr lang="es-419" dirty="0"/>
          </a:p>
          <a:p>
            <a:r>
              <a:rPr lang="es-419" dirty="0"/>
              <a:t>Centralizar el almacenamiento de documentos.</a:t>
            </a:r>
          </a:p>
          <a:p>
            <a:r>
              <a:rPr lang="es-419" dirty="0"/>
              <a:t>Implementar control de acceso seguro.</a:t>
            </a:r>
          </a:p>
          <a:p>
            <a:r>
              <a:rPr lang="es-419" dirty="0"/>
              <a:t>Cifrar la información almacenada.</a:t>
            </a:r>
          </a:p>
          <a:p>
            <a:r>
              <a:rPr lang="es-419" dirty="0"/>
              <a:t>Crear respaldos automáticos.</a:t>
            </a:r>
          </a:p>
          <a:p>
            <a:r>
              <a:rPr lang="es-419" dirty="0"/>
              <a:t>Monitorear eventos de seguridad.</a:t>
            </a:r>
          </a:p>
          <a:p>
            <a:r>
              <a:rPr lang="es-419" dirty="0"/>
              <a:t>Generar alertas automáticas ante incidentes.</a:t>
            </a:r>
            <a:endParaRPr lang="es-CO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3306E67-99C1-0E80-2320-67959F352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270D41D-0B55-1E4A-AFA6-D8D60D7B06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84" y="2828681"/>
            <a:ext cx="3483851" cy="2814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" y="822960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72720" y="92914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Solución Propuesta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77CE5EA-9AB9-CBF0-CA8B-4781E32FF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686" y="6048262"/>
            <a:ext cx="1724266" cy="80973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74BF8EE-F905-5772-E070-A9FA3E67ABAF}"/>
              </a:ext>
            </a:extLst>
          </p:cNvPr>
          <p:cNvSpPr txBox="1"/>
          <p:nvPr/>
        </p:nvSpPr>
        <p:spPr>
          <a:xfrm>
            <a:off x="381000" y="2218267"/>
            <a:ext cx="1076113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dirty="0"/>
              <a:t>Se propone una solución basada en servicios administrados de AWS para garantizar:</a:t>
            </a:r>
          </a:p>
          <a:p>
            <a:r>
              <a:rPr lang="es-419" dirty="0"/>
              <a:t>Características</a:t>
            </a:r>
          </a:p>
          <a:p>
            <a:r>
              <a:rPr lang="es-419" dirty="0"/>
              <a:t>Almacenamiento seguro</a:t>
            </a:r>
          </a:p>
          <a:p>
            <a:r>
              <a:rPr lang="es-419" dirty="0"/>
              <a:t>Protección mediante cifrado</a:t>
            </a:r>
          </a:p>
          <a:p>
            <a:r>
              <a:rPr lang="es-419" dirty="0"/>
              <a:t>Respaldo automatizado</a:t>
            </a:r>
          </a:p>
          <a:p>
            <a:r>
              <a:rPr lang="es-419" dirty="0"/>
              <a:t>Gestión de usuarios y permisos</a:t>
            </a:r>
          </a:p>
          <a:p>
            <a:r>
              <a:rPr lang="es-419" dirty="0"/>
              <a:t>Monitoreo en tiempo real</a:t>
            </a:r>
          </a:p>
          <a:p>
            <a:r>
              <a:rPr lang="es-419" dirty="0"/>
              <a:t>Notificaciones automáticas</a:t>
            </a:r>
          </a:p>
          <a:p>
            <a:r>
              <a:rPr lang="es-419" dirty="0"/>
              <a:t>Beneficios</a:t>
            </a:r>
          </a:p>
          <a:p>
            <a:r>
              <a:rPr lang="es-419" dirty="0"/>
              <a:t>Alta disponibilidad.</a:t>
            </a:r>
          </a:p>
          <a:p>
            <a:r>
              <a:rPr lang="es-419" dirty="0"/>
              <a:t>Escalabilidad.</a:t>
            </a:r>
          </a:p>
          <a:p>
            <a:r>
              <a:rPr lang="es-419" dirty="0"/>
              <a:t>Seguridad empresarial.</a:t>
            </a:r>
          </a:p>
          <a:p>
            <a:r>
              <a:rPr lang="es-419" dirty="0"/>
              <a:t>Bajo costo operativo.</a:t>
            </a:r>
            <a:endParaRPr lang="es-CO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D67D4DF-CE12-72BF-135D-08F3844E6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3039532"/>
            <a:ext cx="4206240" cy="238590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" y="548640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685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Servicios AWS Utilizados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16FDA10-AE5B-82F4-713F-097509AEA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438B37E-F188-8F29-A5F1-916582B85E16}"/>
              </a:ext>
            </a:extLst>
          </p:cNvPr>
          <p:cNvSpPr txBox="1"/>
          <p:nvPr/>
        </p:nvSpPr>
        <p:spPr>
          <a:xfrm>
            <a:off x="762000" y="1879600"/>
            <a:ext cx="87460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/>
              <a:t>Componentes de la Solución:</a:t>
            </a:r>
          </a:p>
          <a:p>
            <a:r>
              <a:rPr lang="es-CO" b="1" dirty="0"/>
              <a:t>Amazon S3</a:t>
            </a:r>
          </a:p>
          <a:p>
            <a:r>
              <a:rPr lang="es-CO" dirty="0"/>
              <a:t>Almacenamiento seguro de documentos.</a:t>
            </a:r>
          </a:p>
          <a:p>
            <a:r>
              <a:rPr lang="es-CO" b="1" dirty="0"/>
              <a:t>AWS IAM</a:t>
            </a:r>
          </a:p>
          <a:p>
            <a:r>
              <a:rPr lang="es-CO" dirty="0"/>
              <a:t>Control de usuarios y permisos.</a:t>
            </a:r>
          </a:p>
          <a:p>
            <a:r>
              <a:rPr lang="es-CO" b="1" dirty="0"/>
              <a:t>AWS KMS</a:t>
            </a:r>
          </a:p>
          <a:p>
            <a:r>
              <a:rPr lang="es-CO" dirty="0"/>
              <a:t>Cifrado de información sensible.</a:t>
            </a:r>
          </a:p>
          <a:p>
            <a:r>
              <a:rPr lang="es-CO" b="1" dirty="0"/>
              <a:t>AWS </a:t>
            </a:r>
            <a:r>
              <a:rPr lang="es-CO" b="1" dirty="0" err="1"/>
              <a:t>Backup</a:t>
            </a:r>
            <a:endParaRPr lang="es-CO" b="1" dirty="0"/>
          </a:p>
          <a:p>
            <a:r>
              <a:rPr lang="es-CO" dirty="0"/>
              <a:t>Automatización de respaldos.</a:t>
            </a:r>
          </a:p>
          <a:p>
            <a:r>
              <a:rPr lang="es-CO" b="1" dirty="0"/>
              <a:t>Amazon </a:t>
            </a:r>
            <a:r>
              <a:rPr lang="es-CO" b="1" dirty="0" err="1"/>
              <a:t>CloudWatch</a:t>
            </a:r>
            <a:endParaRPr lang="es-CO" b="1" dirty="0"/>
          </a:p>
          <a:p>
            <a:r>
              <a:rPr lang="es-CO" dirty="0"/>
              <a:t>Monitoreo de eventos y actividades.</a:t>
            </a:r>
          </a:p>
          <a:p>
            <a:r>
              <a:rPr lang="es-CO" b="1" dirty="0"/>
              <a:t>Amazon SNS</a:t>
            </a:r>
          </a:p>
          <a:p>
            <a:r>
              <a:rPr lang="es-CO" dirty="0"/>
              <a:t>Envío de notificaciones y alertas.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860D6AA-15CC-E41C-AE65-74AB2905F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1182" y="2337848"/>
            <a:ext cx="6288685" cy="25714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" y="597922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253" y="67257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Arquitectura de la Solución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BF352D3-E32D-5081-6BD1-31D1DD996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0AC70C9-07CF-F188-968D-AE4885717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800" y="1306927"/>
            <a:ext cx="7653867" cy="47413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" y="626533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63693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Flujo de Operación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B54F340-84AC-6E3D-1172-98DCF7B09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3EC4CF4-029F-940E-EDD0-828E5AA23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0" y="1371600"/>
            <a:ext cx="7653868" cy="5146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2421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253" y="629581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Implementación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9061A1C-9CC8-BD86-F182-150B869D5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24DD0D25-9AD5-FE54-72ED-4D7CEAF42AE8}"/>
              </a:ext>
            </a:extLst>
          </p:cNvPr>
          <p:cNvSpPr txBox="1"/>
          <p:nvPr/>
        </p:nvSpPr>
        <p:spPr>
          <a:xfrm>
            <a:off x="575733" y="1651000"/>
            <a:ext cx="8466667" cy="4182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O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48D02DC-6D60-9849-1194-5F538F881C12}"/>
              </a:ext>
            </a:extLst>
          </p:cNvPr>
          <p:cNvSpPr txBox="1"/>
          <p:nvPr/>
        </p:nvSpPr>
        <p:spPr>
          <a:xfrm>
            <a:off x="372534" y="1837267"/>
            <a:ext cx="86698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b="1" dirty="0"/>
              <a:t>Configuración de Servicios AWS</a:t>
            </a:r>
          </a:p>
          <a:p>
            <a:r>
              <a:rPr lang="es-419" dirty="0"/>
              <a:t>Creación del </a:t>
            </a:r>
            <a:r>
              <a:rPr lang="es-419" dirty="0" err="1"/>
              <a:t>Bucket</a:t>
            </a:r>
            <a:r>
              <a:rPr lang="es-419" dirty="0"/>
              <a:t> S3.</a:t>
            </a:r>
          </a:p>
          <a:p>
            <a:r>
              <a:rPr lang="es-419" dirty="0"/>
              <a:t>Configuración de usuarios IAM.</a:t>
            </a:r>
          </a:p>
          <a:p>
            <a:r>
              <a:rPr lang="es-419" dirty="0"/>
              <a:t>Habilitación de cifrado KMS.</a:t>
            </a:r>
          </a:p>
          <a:p>
            <a:r>
              <a:rPr lang="es-419" dirty="0"/>
              <a:t>Creación del plan de respaldo.</a:t>
            </a:r>
          </a:p>
          <a:p>
            <a:r>
              <a:rPr lang="es-419" dirty="0"/>
              <a:t>Configuración de </a:t>
            </a:r>
            <a:r>
              <a:rPr lang="es-419" dirty="0" err="1"/>
              <a:t>CloudWatch</a:t>
            </a:r>
            <a:r>
              <a:rPr lang="es-419" dirty="0"/>
              <a:t>.</a:t>
            </a:r>
          </a:p>
          <a:p>
            <a:r>
              <a:rPr lang="es-419" dirty="0"/>
              <a:t>Configuración de SNS.</a:t>
            </a:r>
          </a:p>
          <a:p>
            <a:r>
              <a:rPr lang="es-419" dirty="0"/>
              <a:t>Infraestructura como Código</a:t>
            </a:r>
          </a:p>
          <a:p>
            <a:r>
              <a:rPr lang="es-419" dirty="0"/>
              <a:t>Se desarrollaron scripts </a:t>
            </a:r>
            <a:r>
              <a:rPr lang="es-419" dirty="0" err="1"/>
              <a:t>Bash</a:t>
            </a:r>
            <a:r>
              <a:rPr lang="es-419" dirty="0"/>
              <a:t> y archivos </a:t>
            </a:r>
            <a:r>
              <a:rPr lang="es-419" dirty="0" err="1"/>
              <a:t>Terraform</a:t>
            </a:r>
            <a:r>
              <a:rPr lang="es-419" dirty="0"/>
              <a:t> para automatizar el despliegue de la solución.</a:t>
            </a:r>
            <a:endParaRPr lang="es-CO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D5A1D0B-41C2-3FEA-1F3E-F987DFC45E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5533" y="1369907"/>
            <a:ext cx="3344738" cy="198289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4979"/>
            <a:ext cx="12188952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4397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Repositorio GitHub y Conclusiones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6563361-3C87-2DDB-299E-9DDD1F61F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34" y="6048262"/>
            <a:ext cx="1724266" cy="80973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76FF82F-A029-E8B8-CD35-DBC997A2ACC3}"/>
              </a:ext>
            </a:extLst>
          </p:cNvPr>
          <p:cNvSpPr txBox="1"/>
          <p:nvPr/>
        </p:nvSpPr>
        <p:spPr>
          <a:xfrm>
            <a:off x="372533" y="2015067"/>
            <a:ext cx="757766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b="1" dirty="0"/>
              <a:t>Conclusiones</a:t>
            </a:r>
          </a:p>
          <a:p>
            <a:r>
              <a:rPr lang="es-419" dirty="0"/>
              <a:t>AWS proporciona herramientas robustas para la protección de la </a:t>
            </a:r>
            <a:r>
              <a:rPr lang="es-419" dirty="0" err="1"/>
              <a:t>información.La</a:t>
            </a:r>
            <a:r>
              <a:rPr lang="es-419" dirty="0"/>
              <a:t> solución diseñada mejora significativamente la seguridad y disponibilidad de los </a:t>
            </a:r>
            <a:r>
              <a:rPr lang="es-419" dirty="0" err="1"/>
              <a:t>datos.CloudSecureSME</a:t>
            </a:r>
            <a:r>
              <a:rPr lang="es-419" dirty="0"/>
              <a:t> es una alternativa viable para pequeñas empresas que buscan modernizar su infraestructura </a:t>
            </a:r>
            <a:r>
              <a:rPr lang="es-419" dirty="0" err="1"/>
              <a:t>tecnológica.La</a:t>
            </a:r>
            <a:r>
              <a:rPr lang="es-419" dirty="0"/>
              <a:t> arquitectura propuesta puede crecer y adaptarse a nuevas necesidades del negocio.</a:t>
            </a:r>
          </a:p>
          <a:p>
            <a:endParaRPr lang="es-419" dirty="0"/>
          </a:p>
          <a:p>
            <a:r>
              <a:rPr lang="es-CO" b="1" dirty="0"/>
              <a:t>GitHub: https://github.com/santiago190298-afk/tallerABP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882D74F-51E2-1B5F-B85D-08A7C0FCCF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2252134"/>
            <a:ext cx="2600789" cy="2489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332</Words>
  <Application>Microsoft Office PowerPoint</Application>
  <PresentationFormat>Panorámica</PresentationFormat>
  <Paragraphs>77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Santiago Pérez Benavidez</dc:creator>
  <cp:lastModifiedBy>Santiago Wl</cp:lastModifiedBy>
  <cp:revision>2</cp:revision>
  <dcterms:created xsi:type="dcterms:W3CDTF">2026-09-10T00:59:41Z</dcterms:created>
  <dcterms:modified xsi:type="dcterms:W3CDTF">2026-09-10T01:20:32Z</dcterms:modified>
</cp:coreProperties>
</file>